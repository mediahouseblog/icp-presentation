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Lato" panose="020F0502020204030203" pitchFamily="34" charset="0"/>
      <p:regular r:id="rId12"/>
      <p:bold r:id="rId13"/>
      <p:italic r:id="rId14"/>
      <p:boldItalic r:id="rId15"/>
    </p:embeddedFont>
    <p:embeddedFont>
      <p:font typeface="Playfair Display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BF6BB64-14A6-4F3A-81BB-02EAC8B0FD42}">
  <a:tblStyle styleId="{6BF6BB64-14A6-4F3A-81BB-02EAC8B0FD4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78" autoAdjust="0"/>
    <p:restoredTop sz="86383" autoAdjust="0"/>
  </p:normalViewPr>
  <p:slideViewPr>
    <p:cSldViewPr snapToGrid="0">
      <p:cViewPr>
        <p:scale>
          <a:sx n="66" d="100"/>
          <a:sy n="66" d="100"/>
        </p:scale>
        <p:origin x="810" y="-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49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06864" y="-186070"/>
            <a:ext cx="12769702" cy="7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1840468" y="2284214"/>
            <a:ext cx="8511063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Procedures for Amending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 dirty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 the Constitution</a:t>
            </a:r>
            <a:endParaRPr dirty="0"/>
          </a:p>
        </p:txBody>
      </p:sp>
      <p:sp>
        <p:nvSpPr>
          <p:cNvPr id="88" name="Google Shape;88;p13"/>
          <p:cNvSpPr/>
          <p:nvPr/>
        </p:nvSpPr>
        <p:spPr>
          <a:xfrm>
            <a:off x="5619750" y="4364235"/>
            <a:ext cx="952500" cy="5715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4260851" y="4730750"/>
            <a:ext cx="34798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1" u="none" strike="noStrike" cap="none" dirty="0">
                <a:solidFill>
                  <a:srgbClr val="DDDDDD"/>
                </a:solidFill>
                <a:latin typeface="Lato"/>
                <a:ea typeface="Lato"/>
                <a:cs typeface="Lato"/>
                <a:sym typeface="Lato"/>
              </a:rPr>
              <a:t>Pakistan Constitution 1973</a:t>
            </a:r>
            <a:endParaRPr sz="2000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84CD4-12A0-B2D7-7FB8-E6DED2FDC47B}"/>
              </a:ext>
            </a:extLst>
          </p:cNvPr>
          <p:cNvSpPr txBox="1"/>
          <p:nvPr/>
        </p:nvSpPr>
        <p:spPr>
          <a:xfrm>
            <a:off x="397668" y="5378485"/>
            <a:ext cx="41171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rgbClr val="DDDDDD"/>
                </a:solidFill>
                <a:latin typeface="Lato"/>
                <a:ea typeface="Lato"/>
                <a:cs typeface="Lato"/>
                <a:sym typeface="Lato"/>
              </a:rPr>
              <a:t>Presented BY:</a:t>
            </a:r>
          </a:p>
          <a:p>
            <a:r>
              <a:rPr lang="en-US" sz="2000" i="1" dirty="0">
                <a:solidFill>
                  <a:srgbClr val="DDDDDD"/>
                </a:solidFill>
                <a:latin typeface="Lato"/>
                <a:ea typeface="Lato"/>
                <a:cs typeface="Lato"/>
                <a:sym typeface="Lato"/>
              </a:rPr>
              <a:t>Muhammad Siddique (25K-0610) </a:t>
            </a:r>
            <a:br>
              <a:rPr lang="en-US" sz="2000" i="1" dirty="0">
                <a:solidFill>
                  <a:srgbClr val="DDDDDD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-US" sz="2000" i="1" dirty="0">
                <a:solidFill>
                  <a:srgbClr val="DDDDDD"/>
                </a:solidFill>
                <a:latin typeface="Lato"/>
                <a:ea typeface="Lato"/>
                <a:cs typeface="Lato"/>
                <a:sym typeface="Lato"/>
              </a:rPr>
              <a:t>BCS-1C</a:t>
            </a:r>
            <a:endParaRPr lang="en-PK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88" grpId="0" animBg="1"/>
      <p:bldP spid="8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400800"/>
            <a:ext cx="121920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33700"/>
            <a:ext cx="3492549" cy="248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5586" y="2945274"/>
            <a:ext cx="3492549" cy="248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933700"/>
            <a:ext cx="3492549" cy="248602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71500" y="457200"/>
            <a:ext cx="2820352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Introduction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6553200"/>
            <a:ext cx="1371600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Legal Basis: Article 239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1229975" y="6553200"/>
            <a:ext cx="390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Page 2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571500" y="129540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904875" y="3867150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 Living Document</a:t>
            </a:r>
            <a:endParaRPr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904875" y="4362450"/>
            <a:ext cx="287342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A constitution is a "living document" that must adapt to changing realities.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83174" y="3867150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Orderly Change</a:t>
            </a:r>
            <a:endParaRPr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4683174" y="4362450"/>
            <a:ext cx="287342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Amendments ensure change is orderly, legal, and democratic.</a:t>
            </a:r>
            <a:endParaRPr dirty="0"/>
          </a:p>
        </p:txBody>
      </p:sp>
      <p:sp>
        <p:nvSpPr>
          <p:cNvPr id="106" name="Google Shape;106;p14"/>
          <p:cNvSpPr txBox="1"/>
          <p:nvPr/>
        </p:nvSpPr>
        <p:spPr>
          <a:xfrm>
            <a:off x="8461474" y="3867150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Balanced Reform</a:t>
            </a:r>
            <a:endParaRPr dirty="0"/>
          </a:p>
        </p:txBody>
      </p:sp>
      <p:sp>
        <p:nvSpPr>
          <p:cNvPr id="107" name="Google Shape;107;p14"/>
          <p:cNvSpPr txBox="1"/>
          <p:nvPr/>
        </p:nvSpPr>
        <p:spPr>
          <a:xfrm>
            <a:off x="8461474" y="4362450"/>
            <a:ext cx="2873424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The process preserves the fundamental structure while allowing for reform.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4875" y="325755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83174" y="325755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1474" y="3257550"/>
            <a:ext cx="47625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  <p:bldP spid="101" grpId="0" animBg="1"/>
      <p:bldP spid="102" grpId="0"/>
      <p:bldP spid="103" grpId="0"/>
      <p:bldP spid="104" grpId="0"/>
      <p:bldP spid="105" grpId="0"/>
      <p:bldP spid="106" grpId="0"/>
      <p:bldP spid="10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400800"/>
            <a:ext cx="121920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10025"/>
            <a:ext cx="11049000" cy="284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1495425"/>
            <a:ext cx="5238750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495425"/>
            <a:ext cx="5238750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571500" y="457200"/>
            <a:ext cx="4310538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Authority to Amend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11229975" y="6553200"/>
            <a:ext cx="390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Page 3</a:t>
            </a:r>
            <a:endParaRPr/>
          </a:p>
        </p:txBody>
      </p:sp>
      <p:sp>
        <p:nvSpPr>
          <p:cNvPr id="122" name="Google Shape;122;p15"/>
          <p:cNvSpPr/>
          <p:nvPr/>
        </p:nvSpPr>
        <p:spPr>
          <a:xfrm>
            <a:off x="571500" y="129540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904875" y="2428875"/>
            <a:ext cx="4850606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Who Can Initiate?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904875" y="2924175"/>
            <a:ext cx="46196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Only Parliament (National Assembly or Senate) has the power to initiate an amendment.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715125" y="2428875"/>
            <a:ext cx="4850606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Requirement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715125" y="2924175"/>
            <a:ext cx="46196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A bill must be passed by a </a:t>
            </a:r>
            <a:r>
              <a:rPr lang="en-US" sz="1350" b="1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2/3 majority</a:t>
            </a: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 in both houses.</a:t>
            </a:r>
            <a:endParaRPr/>
          </a:p>
        </p:txBody>
      </p:sp>
      <p:pic>
        <p:nvPicPr>
          <p:cNvPr id="127" name="Google Shape;12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4875" y="5286375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1400175" y="5105400"/>
            <a:ext cx="6860857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Who Cannot Amend?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1400175" y="5505450"/>
            <a:ext cx="65341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Provincial assemblies and the President/PM cannot unilaterally amend the Constitution.</a:t>
            </a:r>
            <a:endParaRPr/>
          </a:p>
        </p:txBody>
      </p:sp>
      <p:pic>
        <p:nvPicPr>
          <p:cNvPr id="130" name="Google Shape;130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4875" y="18192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715125" y="1819275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0"/>
      <p:bldP spid="121" grpId="0"/>
      <p:bldP spid="122" grpId="0" animBg="1"/>
      <p:bldP spid="123" grpId="0"/>
      <p:bldP spid="124" grpId="0"/>
      <p:bldP spid="125" grpId="0"/>
      <p:bldP spid="126" grpId="0"/>
      <p:bldP spid="128" grpId="0"/>
      <p:bldP spid="12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400800"/>
            <a:ext cx="121920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28925"/>
            <a:ext cx="3492549" cy="269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828925"/>
            <a:ext cx="3492549" cy="269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828925"/>
            <a:ext cx="3492549" cy="269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4875" y="3114675"/>
            <a:ext cx="666750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83174" y="3114675"/>
            <a:ext cx="666750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1474" y="311467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571500" y="457200"/>
            <a:ext cx="7260907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Amendment Process (Article 239)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71500" y="6553200"/>
            <a:ext cx="1438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Constitution of Pakistan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11229975" y="6553200"/>
            <a:ext cx="390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Page 4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129540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904875" y="3971925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Introduction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904875" y="4467225"/>
            <a:ext cx="287342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A bill is introduced in either the National Assembly or the Senate.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4683174" y="3971925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Voting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4683174" y="4467225"/>
            <a:ext cx="2873424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It must pass with a two-thirds supermajority of the total membership in </a:t>
            </a:r>
            <a:r>
              <a:rPr lang="en-US" sz="1350" b="1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both</a:t>
            </a: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 houses.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8461474" y="3971925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Assent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8461474" y="4467225"/>
            <a:ext cx="287342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The bill is sent to the President for final approval (Assent).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/>
      <p:bldP spid="144" grpId="0"/>
      <p:bldP spid="145" grpId="0"/>
      <p:bldP spid="146" grpId="0" animBg="1"/>
      <p:bldP spid="147" grpId="0"/>
      <p:bldP spid="148" grpId="0"/>
      <p:bldP spid="149" grpId="0"/>
      <p:bldP spid="150" grpId="0"/>
      <p:bldP spid="151" grpId="0"/>
      <p:bldP spid="15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400800"/>
            <a:ext cx="121920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403425"/>
            <a:ext cx="5238750" cy="3546425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 txBox="1"/>
          <p:nvPr/>
        </p:nvSpPr>
        <p:spPr>
          <a:xfrm>
            <a:off x="571500" y="457200"/>
            <a:ext cx="4570571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Role of the President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71500" y="6553200"/>
            <a:ext cx="1438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Constitution of Pakistan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1229975" y="6553200"/>
            <a:ext cx="390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Page 5</a:t>
            </a:r>
            <a:endParaRPr/>
          </a:p>
        </p:txBody>
      </p:sp>
      <p:sp>
        <p:nvSpPr>
          <p:cNvPr id="162" name="Google Shape;162;p17"/>
          <p:cNvSpPr/>
          <p:nvPr/>
        </p:nvSpPr>
        <p:spPr>
          <a:xfrm>
            <a:off x="571500" y="129540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3" name="Google Shape;163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19850" y="2441525"/>
            <a:ext cx="5162550" cy="3470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1000125" y="2895451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Ordinary Legislation: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The President can return a bill for reconsideration. If passed again, they </a:t>
            </a:r>
            <a:r>
              <a:rPr lang="en-US" sz="1500" b="0" i="1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must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sign it.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1000125" y="3705076"/>
            <a:ext cx="48101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Money Bills: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The President cannot return money bills and must sign them.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1000125" y="4514701"/>
            <a:ext cx="481012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Constitutional Amendments: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Once passed by both houses with a supermajority, the President gives assent to make it law.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  <p:bldP spid="160" grpId="0"/>
      <p:bldP spid="161" grpId="0"/>
      <p:bldP spid="162" grpId="0" animBg="1"/>
      <p:bldP spid="164" grpId="0"/>
      <p:bldP spid="165" grpId="0"/>
      <p:bldP spid="16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400800"/>
            <a:ext cx="121920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33587"/>
            <a:ext cx="523875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562225"/>
            <a:ext cx="5238750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8"/>
          <p:cNvSpPr txBox="1"/>
          <p:nvPr/>
        </p:nvSpPr>
        <p:spPr>
          <a:xfrm>
            <a:off x="571500" y="457200"/>
            <a:ext cx="728091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Amendments Affecting Provinces</a:t>
            </a:r>
            <a:endParaRPr dirty="0"/>
          </a:p>
        </p:txBody>
      </p:sp>
      <p:sp>
        <p:nvSpPr>
          <p:cNvPr id="175" name="Google Shape;175;p18"/>
          <p:cNvSpPr txBox="1"/>
          <p:nvPr/>
        </p:nvSpPr>
        <p:spPr>
          <a:xfrm>
            <a:off x="571500" y="6553200"/>
            <a:ext cx="1438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Constitution of Pakistan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11229975" y="6553200"/>
            <a:ext cx="390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Page 6</a:t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71500" y="129540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9600" y="2071687"/>
            <a:ext cx="5162550" cy="421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8"/>
          <p:cNvSpPr txBox="1"/>
          <p:nvPr/>
        </p:nvSpPr>
        <p:spPr>
          <a:xfrm>
            <a:off x="6715125" y="2847975"/>
            <a:ext cx="4850606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Special Requirement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6715125" y="3352800"/>
            <a:ext cx="46196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Trigger: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If an amendment changes provincial boundaries or names.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6715125" y="4067175"/>
            <a:ext cx="46196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Requirement: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It must </a:t>
            </a:r>
            <a:r>
              <a:rPr lang="en-US" sz="1500" b="0" i="1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also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be approved by the respective Provincial Assembly.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6715125" y="4781550"/>
            <a:ext cx="46196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Vote Required:</a:t>
            </a:r>
            <a:r>
              <a:rPr lang="en-US" sz="1500" b="0" i="0" u="none" strike="noStrike" cap="none">
                <a:solidFill>
                  <a:srgbClr val="2D3748"/>
                </a:solidFill>
                <a:latin typeface="Lato"/>
                <a:ea typeface="Lato"/>
                <a:cs typeface="Lato"/>
                <a:sym typeface="Lato"/>
              </a:rPr>
              <a:t> A 2/3 majority in that Provincial Assembly is required.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" grpId="0"/>
      <p:bldP spid="175" grpId="0"/>
      <p:bldP spid="176" grpId="0"/>
      <p:bldP spid="177" grpId="0" animBg="1"/>
      <p:bldP spid="179" grpId="0"/>
      <p:bldP spid="180" grpId="0"/>
      <p:bldP spid="181" grpId="0"/>
      <p:bldP spid="18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400800"/>
            <a:ext cx="121920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95512"/>
            <a:ext cx="11049000" cy="396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9"/>
          <p:cNvSpPr txBox="1"/>
          <p:nvPr/>
        </p:nvSpPr>
        <p:spPr>
          <a:xfrm>
            <a:off x="571500" y="457200"/>
            <a:ext cx="528066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Important Amendments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571500" y="6553200"/>
            <a:ext cx="1438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Constitution of Pakistan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11229975" y="6553200"/>
            <a:ext cx="390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Page 7</a:t>
            </a:r>
            <a:endParaRPr/>
          </a:p>
        </p:txBody>
      </p:sp>
      <p:sp>
        <p:nvSpPr>
          <p:cNvPr id="192" name="Google Shape;192;p19"/>
          <p:cNvSpPr/>
          <p:nvPr/>
        </p:nvSpPr>
        <p:spPr>
          <a:xfrm>
            <a:off x="571500" y="129540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3" name="Google Shape;193;p19"/>
          <p:cNvGraphicFramePr/>
          <p:nvPr>
            <p:extLst>
              <p:ext uri="{D42A27DB-BD31-4B8C-83A1-F6EECF244321}">
                <p14:modId xmlns:p14="http://schemas.microsoft.com/office/powerpoint/2010/main" val="1984437154"/>
              </p:ext>
            </p:extLst>
          </p:nvPr>
        </p:nvGraphicFramePr>
        <p:xfrm>
          <a:off x="581025" y="2205037"/>
          <a:ext cx="11029950" cy="3943400"/>
        </p:xfrm>
        <a:graphic>
          <a:graphicData uri="http://schemas.openxmlformats.org/drawingml/2006/table">
            <a:tbl>
              <a:tblPr firstRow="1" bandRow="1">
                <a:noFill/>
                <a:tableStyleId>{6BF6BB64-14A6-4F3A-81BB-02EAC8B0FD42}</a:tableStyleId>
              </a:tblPr>
              <a:tblGrid>
                <a:gridCol w="165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2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Amend.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2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Year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22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Details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422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1985 (Zia-Ul-Haq)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Legalized Martial Law acts; strengthened Presidential powers.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1997 (Nawaz </a:t>
                      </a:r>
                      <a:r>
                        <a:rPr lang="en-US" sz="1275" b="0" i="0" u="none" strike="noStrike" cap="none" dirty="0" err="1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Shahrif</a:t>
                      </a: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Removed Article 58(2)(b) (President's power to dissolve Assembly).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17th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2003 (Musharaff)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Presidential powers were strengthened again in General Musharraf's rule, But it now needs to be passed by Judiciary (Supreme Court).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18th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2010 (PPP)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Substituted Article 58(2)(b), Restored parliamentary democracy; granted provincial autonomy (Concurrent Lists were removed).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21st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2015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Established military courts for terrorism cases.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26th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2024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Judicial Reforms: Fixed Chief Justice tenure (3 yrs).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1" i="0" u="none" strike="noStrike" cap="none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27th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75" b="0" i="0" u="none" strike="noStrike" cap="none" dirty="0">
                          <a:solidFill>
                            <a:srgbClr val="2D374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2025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Federal Constitutional Court was </a:t>
                      </a:r>
                      <a:r>
                        <a:rPr lang="en-US" dirty="0" err="1"/>
                        <a:t>establisted</a:t>
                      </a:r>
                      <a:r>
                        <a:rPr lang="en-US" dirty="0"/>
                        <a:t>, First Chief Justice of FCC appointed by President on advice of Prime </a:t>
                      </a:r>
                      <a:r>
                        <a:rPr lang="en-US" dirty="0" err="1"/>
                        <a:t>Minsiter,Redisgnating</a:t>
                      </a:r>
                      <a:r>
                        <a:rPr lang="en-US" dirty="0"/>
                        <a:t> the “Chief Of Army Staff” as “Chief Of </a:t>
                      </a:r>
                      <a:r>
                        <a:rPr lang="en-US" dirty="0" err="1"/>
                        <a:t>Defence</a:t>
                      </a:r>
                      <a:r>
                        <a:rPr lang="en-US" dirty="0"/>
                        <a:t> Forces</a:t>
                      </a:r>
                      <a:r>
                        <a:rPr lang="en-US"/>
                        <a:t>” well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4" name="Google Shape;194;p19"/>
          <p:cNvSpPr/>
          <p:nvPr/>
        </p:nvSpPr>
        <p:spPr>
          <a:xfrm>
            <a:off x="581025" y="2724150"/>
            <a:ext cx="1654373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/>
          <p:nvPr/>
        </p:nvSpPr>
        <p:spPr>
          <a:xfrm>
            <a:off x="2235398" y="2724150"/>
            <a:ext cx="1654373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3889771" y="2724150"/>
            <a:ext cx="7721203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9"/>
          <p:cNvSpPr/>
          <p:nvPr/>
        </p:nvSpPr>
        <p:spPr>
          <a:xfrm>
            <a:off x="581025" y="3248025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9"/>
          <p:cNvSpPr/>
          <p:nvPr/>
        </p:nvSpPr>
        <p:spPr>
          <a:xfrm>
            <a:off x="2235398" y="3248025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3889771" y="3248025"/>
            <a:ext cx="772120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581025" y="3729037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2235398" y="3729037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3889771" y="3729037"/>
            <a:ext cx="772120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581025" y="4210050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2235398" y="4210050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3889771" y="4210050"/>
            <a:ext cx="772120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>
            <a:off x="581025" y="4691062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2235398" y="4691062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/>
          <p:nvPr/>
        </p:nvSpPr>
        <p:spPr>
          <a:xfrm>
            <a:off x="3889771" y="4691062"/>
            <a:ext cx="772120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9"/>
          <p:cNvSpPr/>
          <p:nvPr/>
        </p:nvSpPr>
        <p:spPr>
          <a:xfrm>
            <a:off x="581025" y="5172075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2235398" y="5172075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/>
          <p:nvPr/>
        </p:nvSpPr>
        <p:spPr>
          <a:xfrm>
            <a:off x="3889771" y="5172075"/>
            <a:ext cx="772120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581025" y="5653087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2235398" y="5653087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9"/>
          <p:cNvSpPr/>
          <p:nvPr/>
        </p:nvSpPr>
        <p:spPr>
          <a:xfrm>
            <a:off x="3889771" y="5653087"/>
            <a:ext cx="772120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9"/>
          <p:cNvSpPr/>
          <p:nvPr/>
        </p:nvSpPr>
        <p:spPr>
          <a:xfrm>
            <a:off x="581025" y="6134100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/>
          <p:nvPr/>
        </p:nvSpPr>
        <p:spPr>
          <a:xfrm>
            <a:off x="2235398" y="6134100"/>
            <a:ext cx="165437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9"/>
          <p:cNvSpPr/>
          <p:nvPr/>
        </p:nvSpPr>
        <p:spPr>
          <a:xfrm>
            <a:off x="3889771" y="6134100"/>
            <a:ext cx="7721203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" grpId="0"/>
      <p:bldP spid="190" grpId="0"/>
      <p:bldP spid="191" grpId="0"/>
      <p:bldP spid="192" grpId="0" animBg="1"/>
      <p:bldP spid="194" grpId="0" animBg="1"/>
      <p:bldP spid="195" grpId="0" animBg="1"/>
      <p:bldP spid="196" grpId="0" animBg="1"/>
      <p:bldP spid="197" grpId="0" animBg="1"/>
      <p:bldP spid="198" grpId="0" animBg="1"/>
      <p:bldP spid="199" grpId="0" animBg="1"/>
      <p:bldP spid="200" grpId="0" animBg="1"/>
      <p:bldP spid="201" grpId="0" animBg="1"/>
      <p:bldP spid="202" grpId="0" animBg="1"/>
      <p:bldP spid="203" grpId="0" animBg="1"/>
      <p:bldP spid="204" grpId="0" animBg="1"/>
      <p:bldP spid="205" grpId="0" animBg="1"/>
      <p:bldP spid="206" grpId="0" animBg="1"/>
      <p:bldP spid="207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Google Shape;22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400800"/>
            <a:ext cx="121920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933700"/>
            <a:ext cx="3492549" cy="248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933700"/>
            <a:ext cx="3492549" cy="248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933700"/>
            <a:ext cx="3492549" cy="2486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0"/>
          <p:cNvSpPr txBox="1"/>
          <p:nvPr/>
        </p:nvSpPr>
        <p:spPr>
          <a:xfrm>
            <a:off x="571500" y="457200"/>
            <a:ext cx="2510313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Conclusion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571500" y="6553200"/>
            <a:ext cx="14382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Constitution of Pakistan</a:t>
            </a:r>
            <a:endParaRPr/>
          </a:p>
        </p:txBody>
      </p:sp>
      <p:sp>
        <p:nvSpPr>
          <p:cNvPr id="228" name="Google Shape;228;p20"/>
          <p:cNvSpPr txBox="1"/>
          <p:nvPr/>
        </p:nvSpPr>
        <p:spPr>
          <a:xfrm>
            <a:off x="11229975" y="6553200"/>
            <a:ext cx="39052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888888"/>
                </a:solidFill>
                <a:latin typeface="Lato"/>
                <a:ea typeface="Lato"/>
                <a:cs typeface="Lato"/>
                <a:sym typeface="Lato"/>
              </a:rPr>
              <a:t>Page 8</a:t>
            </a:r>
            <a:endParaRPr/>
          </a:p>
        </p:txBody>
      </p:sp>
      <p:sp>
        <p:nvSpPr>
          <p:cNvPr id="229" name="Google Shape;229;p20"/>
          <p:cNvSpPr/>
          <p:nvPr/>
        </p:nvSpPr>
        <p:spPr>
          <a:xfrm>
            <a:off x="571500" y="1295400"/>
            <a:ext cx="571500" cy="381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0"/>
          <p:cNvSpPr txBox="1"/>
          <p:nvPr/>
        </p:nvSpPr>
        <p:spPr>
          <a:xfrm>
            <a:off x="904875" y="3867150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Tool for Reform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904875" y="4362450"/>
            <a:ext cx="287342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Amendment powers are a tool for reform, not destruction.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4683174" y="3867150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Broad Consensus</a:t>
            </a:r>
            <a:endParaRPr dirty="0"/>
          </a:p>
        </p:txBody>
      </p:sp>
      <p:sp>
        <p:nvSpPr>
          <p:cNvPr id="233" name="Google Shape;233;p20"/>
          <p:cNvSpPr txBox="1"/>
          <p:nvPr/>
        </p:nvSpPr>
        <p:spPr>
          <a:xfrm>
            <a:off x="4683174" y="4362450"/>
            <a:ext cx="2873424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The process requires broad political consensus (2/3 majority).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461474" y="3867150"/>
            <a:ext cx="3017095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225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Balanced System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8461474" y="4362450"/>
            <a:ext cx="2873424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Lato"/>
                <a:ea typeface="Lato"/>
                <a:cs typeface="Lato"/>
                <a:sym typeface="Lato"/>
              </a:rPr>
              <a:t>Pakistan's system balances rigidity (hard to change) with flexibility (ability to adapt).</a:t>
            </a:r>
            <a:endParaRPr/>
          </a:p>
        </p:txBody>
      </p:sp>
      <p:pic>
        <p:nvPicPr>
          <p:cNvPr id="236" name="Google Shape;236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04875" y="32575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83174" y="3257550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61474" y="3257550"/>
            <a:ext cx="47625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/>
      <p:bldP spid="227" grpId="0"/>
      <p:bldP spid="228" grpId="0"/>
      <p:bldP spid="229" grpId="0" animBg="1"/>
      <p:bldP spid="230" grpId="0"/>
      <p:bldP spid="231" grpId="0"/>
      <p:bldP spid="232" grpId="0"/>
      <p:bldP spid="233" grpId="0"/>
      <p:bldP spid="234" grpId="0"/>
      <p:bldP spid="23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7214" y="-1"/>
            <a:ext cx="12229214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37214" y="-196703"/>
            <a:ext cx="12311764" cy="7124553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1"/>
          <p:cNvSpPr txBox="1"/>
          <p:nvPr/>
        </p:nvSpPr>
        <p:spPr>
          <a:xfrm>
            <a:off x="952500" y="2352675"/>
            <a:ext cx="9311163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 dirty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Thank You For Your Time</a:t>
            </a:r>
            <a:endParaRPr dirty="0"/>
          </a:p>
        </p:txBody>
      </p:sp>
      <p:sp>
        <p:nvSpPr>
          <p:cNvPr id="246" name="Google Shape;246;p21"/>
          <p:cNvSpPr txBox="1"/>
          <p:nvPr/>
        </p:nvSpPr>
        <p:spPr>
          <a:xfrm>
            <a:off x="952500" y="3657600"/>
            <a:ext cx="8867775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D4AF37"/>
                </a:solidFill>
                <a:latin typeface="Lato"/>
                <a:ea typeface="Lato"/>
                <a:cs typeface="Lato"/>
                <a:sym typeface="Lato"/>
              </a:rPr>
              <a:t>ANY QUESTIONS?</a:t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952500" y="4467225"/>
            <a:ext cx="952500" cy="38100"/>
          </a:xfrm>
          <a:prstGeom prst="roundRect">
            <a:avLst>
              <a:gd name="adj" fmla="val 16667"/>
            </a:avLst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" grpId="0"/>
      <p:bldP spid="246" grpId="0"/>
      <p:bldP spid="24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509</Words>
  <Application>Microsoft Office PowerPoint</Application>
  <PresentationFormat>Widescreen</PresentationFormat>
  <Paragraphs>81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Lato</vt:lpstr>
      <vt:lpstr>Playfair Display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Muhammad Sddique Memon</cp:lastModifiedBy>
  <cp:revision>13</cp:revision>
  <dcterms:modified xsi:type="dcterms:W3CDTF">2025-11-23T21:29:47Z</dcterms:modified>
</cp:coreProperties>
</file>