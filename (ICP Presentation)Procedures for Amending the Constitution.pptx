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Lato" panose="020F0502020204030203" pitchFamily="34" charset="0"/>
      <p:regular r:id="rId12"/>
      <p:bold r:id="rId13"/>
      <p:italic r:id="rId14"/>
      <p:boldItalic r:id="rId15"/>
    </p:embeddedFont>
    <p:embeddedFont>
      <p:font typeface="Playfair Display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BF6BB64-14A6-4F3A-81BB-02EAC8B0FD42}">
  <a:tblStyle styleId="{6BF6BB64-14A6-4F3A-81BB-02EAC8B0FD4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5" autoAdjust="0"/>
    <p:restoredTop sz="86383" autoAdjust="0"/>
  </p:normalViewPr>
  <p:slideViewPr>
    <p:cSldViewPr snapToGrid="0">
      <p:cViewPr>
        <p:scale>
          <a:sx n="50" d="100"/>
          <a:sy n="50" d="100"/>
        </p:scale>
        <p:origin x="538" y="1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49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212651" y="-186070"/>
            <a:ext cx="12769702" cy="718761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840468" y="2284214"/>
            <a:ext cx="8511063" cy="150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Procedures for Amending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the Constitution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5619750" y="4364235"/>
            <a:ext cx="952500" cy="5715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4833937" y="4897635"/>
            <a:ext cx="25241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DDDDD"/>
                </a:solidFill>
                <a:latin typeface="Lato"/>
                <a:ea typeface="Lato"/>
                <a:cs typeface="Lato"/>
                <a:sym typeface="Lato"/>
              </a:rPr>
              <a:t>Pakistan Constitution 1973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400800"/>
            <a:ext cx="121920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33700"/>
            <a:ext cx="3492549" cy="248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933700"/>
            <a:ext cx="3492549" cy="248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933700"/>
            <a:ext cx="3492549" cy="24860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571500" y="457200"/>
            <a:ext cx="2820352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422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Introduction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6553200"/>
            <a:ext cx="13716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rPr>
              <a:t>Legal Basis: Article 239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1229975" y="6553200"/>
            <a:ext cx="3905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rPr>
              <a:t>Page 2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571500" y="129540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904875" y="3867150"/>
            <a:ext cx="301709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422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 Living Document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04875" y="4362450"/>
            <a:ext cx="2873424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A constitution is a "living document" that must adapt to changing realities.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4683174" y="3867150"/>
            <a:ext cx="301709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422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Orderly Change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4683174" y="4362450"/>
            <a:ext cx="2873424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Amendments ensure change is orderly, legal, and democratic.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461474" y="3867150"/>
            <a:ext cx="301709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422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Balanced Reform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461474" y="4362450"/>
            <a:ext cx="2873424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The process preserves the fundamental structure while allowing for reform.</a:t>
            </a:r>
            <a:endParaRPr/>
          </a:p>
        </p:txBody>
      </p:sp>
      <p:pic>
        <p:nvPicPr>
          <p:cNvPr id="108" name="Google Shape;108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4875" y="3257550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83174" y="3257550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61474" y="3257550"/>
            <a:ext cx="47625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400800"/>
            <a:ext cx="121920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010025"/>
            <a:ext cx="11049000" cy="284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495425"/>
            <a:ext cx="5238750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495425"/>
            <a:ext cx="5238750" cy="222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571500" y="457200"/>
            <a:ext cx="4310538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422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Authority to Amend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571500" y="6553200"/>
            <a:ext cx="14382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rPr>
              <a:t>Constitution of Pakistan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11229975" y="6553200"/>
            <a:ext cx="3905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rPr>
              <a:t>Page 3</a:t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571500" y="129540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904875" y="2428875"/>
            <a:ext cx="4850606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422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Who Can Initiate?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904875" y="2924175"/>
            <a:ext cx="46196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Only Parliament (National Assembly or Senate) has the power to initiate an amendment.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715125" y="2428875"/>
            <a:ext cx="4850606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422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Requirement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6715125" y="2924175"/>
            <a:ext cx="46196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A bill must be passed by a </a:t>
            </a:r>
            <a:r>
              <a:rPr lang="en-US" sz="1350" b="1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2/3 majority</a:t>
            </a:r>
            <a:r>
              <a:rPr lang="en-US" sz="135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 in both houses.</a:t>
            </a:r>
            <a:endParaRPr/>
          </a:p>
        </p:txBody>
      </p:sp>
      <p:pic>
        <p:nvPicPr>
          <p:cNvPr id="127" name="Google Shape;12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04875" y="528637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1400175" y="5105400"/>
            <a:ext cx="6860857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422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Who Cannot Amend?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1400175" y="5505450"/>
            <a:ext cx="6534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Provincial assemblies and the President/PM cannot unilaterally amend the Constitution.</a:t>
            </a:r>
            <a:endParaRPr/>
          </a:p>
        </p:txBody>
      </p:sp>
      <p:pic>
        <p:nvPicPr>
          <p:cNvPr id="130" name="Google Shape;13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4875" y="18192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15125" y="1819275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400800"/>
            <a:ext cx="121920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28925"/>
            <a:ext cx="3492549" cy="269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828925"/>
            <a:ext cx="3492549" cy="269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828925"/>
            <a:ext cx="3492549" cy="269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4875" y="3114675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83174" y="3114675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61474" y="311467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571500" y="457200"/>
            <a:ext cx="7260907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422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Amendment Process (Article 239)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571500" y="6553200"/>
            <a:ext cx="14382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rPr>
              <a:t>Constitution of Pakistan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11229975" y="6553200"/>
            <a:ext cx="3905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rPr>
              <a:t>Page 4</a:t>
            </a:r>
            <a:endParaRPr/>
          </a:p>
        </p:txBody>
      </p:sp>
      <p:sp>
        <p:nvSpPr>
          <p:cNvPr id="146" name="Google Shape;146;p16"/>
          <p:cNvSpPr/>
          <p:nvPr/>
        </p:nvSpPr>
        <p:spPr>
          <a:xfrm>
            <a:off x="571500" y="129540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904875" y="3971925"/>
            <a:ext cx="301709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422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Introduction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904875" y="4467225"/>
            <a:ext cx="2873424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A bill is introduced in either the National Assembly or the Senate.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4683174" y="3971925"/>
            <a:ext cx="301709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422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Voting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4683174" y="4467225"/>
            <a:ext cx="2873424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It must pass with a two-thirds supermajority of the total membership in </a:t>
            </a:r>
            <a:r>
              <a:rPr lang="en-US" sz="1350" b="1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both</a:t>
            </a:r>
            <a:r>
              <a:rPr lang="en-US" sz="135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 houses.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8461474" y="3971925"/>
            <a:ext cx="301709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422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Assent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8461474" y="4467225"/>
            <a:ext cx="2873424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The bill is sent to the President for final approval (Assent).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400800"/>
            <a:ext cx="121920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403425"/>
            <a:ext cx="5238750" cy="354642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/>
        </p:nvSpPr>
        <p:spPr>
          <a:xfrm>
            <a:off x="571500" y="457200"/>
            <a:ext cx="4570571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422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Role of the President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571500" y="6553200"/>
            <a:ext cx="14382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rPr>
              <a:t>Constitution of Pakistan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11229975" y="6553200"/>
            <a:ext cx="3905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rPr>
              <a:t>Page 5</a:t>
            </a:r>
            <a:endParaRPr/>
          </a:p>
        </p:txBody>
      </p:sp>
      <p:sp>
        <p:nvSpPr>
          <p:cNvPr id="162" name="Google Shape;162;p17"/>
          <p:cNvSpPr/>
          <p:nvPr/>
        </p:nvSpPr>
        <p:spPr>
          <a:xfrm>
            <a:off x="571500" y="129540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19850" y="2441525"/>
            <a:ext cx="5162550" cy="347022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1000125" y="2895451"/>
            <a:ext cx="48101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Ordinary Legislation:</a:t>
            </a:r>
            <a:r>
              <a:rPr lang="en-US" sz="1500" b="0" i="0" u="none" strike="noStrike" cap="non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The President can return a bill for reconsideration. If passed again, they </a:t>
            </a:r>
            <a:r>
              <a:rPr lang="en-US" sz="1500" b="0" i="1" u="none" strike="noStrike" cap="non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must</a:t>
            </a:r>
            <a:r>
              <a:rPr lang="en-US" sz="1500" b="0" i="0" u="none" strike="noStrike" cap="non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sign it.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1000125" y="3705076"/>
            <a:ext cx="48101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Money Bills:</a:t>
            </a:r>
            <a:r>
              <a:rPr lang="en-US" sz="1500" b="0" i="0" u="none" strike="noStrike" cap="non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The President cannot return money bills and must sign them.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1000125" y="4514701"/>
            <a:ext cx="48101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Constitutional Amendments:</a:t>
            </a:r>
            <a:r>
              <a:rPr lang="en-US" sz="1500" b="0" i="0" u="none" strike="noStrike" cap="non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Once passed by both houses with a supermajority, the President gives assent to make it law.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400800"/>
            <a:ext cx="121920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33587"/>
            <a:ext cx="52387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562225"/>
            <a:ext cx="5238750" cy="3228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/>
        </p:nvSpPr>
        <p:spPr>
          <a:xfrm>
            <a:off x="571500" y="457200"/>
            <a:ext cx="728091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422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Amendments Affecting Provinces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571500" y="6553200"/>
            <a:ext cx="14382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rPr>
              <a:t>Constitution of Pakistan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11229975" y="6553200"/>
            <a:ext cx="3905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rPr>
              <a:t>Page 6</a:t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571500" y="129540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9600" y="2071687"/>
            <a:ext cx="5162550" cy="42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 txBox="1"/>
          <p:nvPr/>
        </p:nvSpPr>
        <p:spPr>
          <a:xfrm>
            <a:off x="6715125" y="2847975"/>
            <a:ext cx="4850606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422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Special Requirement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6715125" y="3352800"/>
            <a:ext cx="46196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Trigger:</a:t>
            </a:r>
            <a:r>
              <a:rPr lang="en-US" sz="1500" b="0" i="0" u="none" strike="noStrike" cap="non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If an amendment changes provincial boundaries or names.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6715125" y="4067175"/>
            <a:ext cx="46196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Requirement:</a:t>
            </a:r>
            <a:r>
              <a:rPr lang="en-US" sz="1500" b="0" i="0" u="none" strike="noStrike" cap="non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It must </a:t>
            </a:r>
            <a:r>
              <a:rPr lang="en-US" sz="1500" b="0" i="1" u="none" strike="noStrike" cap="non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also</a:t>
            </a:r>
            <a:r>
              <a:rPr lang="en-US" sz="1500" b="0" i="0" u="none" strike="noStrike" cap="non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be approved by the respective Provincial Assembly.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6715125" y="4781550"/>
            <a:ext cx="46196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Vote Required:</a:t>
            </a:r>
            <a:r>
              <a:rPr lang="en-US" sz="1500" b="0" i="0" u="none" strike="noStrike" cap="non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A 2/3 majority in that Provincial Assembly is required.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400800"/>
            <a:ext cx="121920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95512"/>
            <a:ext cx="11049000" cy="396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9"/>
          <p:cNvSpPr txBox="1"/>
          <p:nvPr/>
        </p:nvSpPr>
        <p:spPr>
          <a:xfrm>
            <a:off x="571500" y="457200"/>
            <a:ext cx="528066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422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Important Amendments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571500" y="6553200"/>
            <a:ext cx="14382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rPr>
              <a:t>Constitution of Pakistan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11229975" y="6553200"/>
            <a:ext cx="3905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rPr>
              <a:t>Page 7</a:t>
            </a:r>
            <a:endParaRPr/>
          </a:p>
        </p:txBody>
      </p:sp>
      <p:sp>
        <p:nvSpPr>
          <p:cNvPr id="192" name="Google Shape;192;p19"/>
          <p:cNvSpPr/>
          <p:nvPr/>
        </p:nvSpPr>
        <p:spPr>
          <a:xfrm>
            <a:off x="571500" y="129540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3" name="Google Shape;193;p19"/>
          <p:cNvGraphicFramePr/>
          <p:nvPr/>
        </p:nvGraphicFramePr>
        <p:xfrm>
          <a:off x="581025" y="2205037"/>
          <a:ext cx="11029950" cy="3943400"/>
        </p:xfrm>
        <a:graphic>
          <a:graphicData uri="http://schemas.openxmlformats.org/drawingml/2006/table">
            <a:tbl>
              <a:tblPr firstRow="1" bandRow="1">
                <a:noFill/>
                <a:tableStyleId>{6BF6BB64-14A6-4F3A-81BB-02EAC8B0FD42}</a:tableStyleId>
              </a:tblPr>
              <a:tblGrid>
                <a:gridCol w="1654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2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Amend.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22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Year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22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Details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2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>
                          <a:solidFill>
                            <a:srgbClr val="2D374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8th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2D374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1985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2D374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Legalized Martial Law acts; strengthened Presidential powers.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>
                          <a:solidFill>
                            <a:srgbClr val="2D374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13th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2D374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1997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2D374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Removed Article 58(2)(b) (President's power to dissolve Assembly).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>
                          <a:solidFill>
                            <a:srgbClr val="2D374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17th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2D374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2003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2D374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Legalized General Musharraf's rule.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>
                          <a:solidFill>
                            <a:srgbClr val="2D374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18th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2D374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2010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2D374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Restored parliamentary democracy; granted provincial autonomy.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>
                          <a:solidFill>
                            <a:srgbClr val="2D374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21st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2D374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2015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2D374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Established military courts for terrorism cases.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>
                          <a:solidFill>
                            <a:srgbClr val="2D374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26th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2D374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2024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2D374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Judicial Reforms: Fixed Chief Justice tenure (3 yrs); Constitutional Benches.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>
                          <a:solidFill>
                            <a:srgbClr val="2D374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27th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2D374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(Bill)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2D374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Proposed reforms for Local Governments and Military Courts.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4" name="Google Shape;194;p19"/>
          <p:cNvSpPr/>
          <p:nvPr/>
        </p:nvSpPr>
        <p:spPr>
          <a:xfrm>
            <a:off x="581025" y="2724150"/>
            <a:ext cx="1654373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2235398" y="2724150"/>
            <a:ext cx="1654373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3889771" y="2724150"/>
            <a:ext cx="7721203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581025" y="3248025"/>
            <a:ext cx="1654373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2235398" y="3248025"/>
            <a:ext cx="1654373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3889771" y="3248025"/>
            <a:ext cx="7721203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581025" y="3729037"/>
            <a:ext cx="1654373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2235398" y="3729037"/>
            <a:ext cx="1654373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3889771" y="3729037"/>
            <a:ext cx="7721203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581025" y="4210050"/>
            <a:ext cx="1654373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2235398" y="4210050"/>
            <a:ext cx="1654373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3889771" y="4210050"/>
            <a:ext cx="7721203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581025" y="4691062"/>
            <a:ext cx="1654373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2235398" y="4691062"/>
            <a:ext cx="1654373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3889771" y="4691062"/>
            <a:ext cx="7721203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581025" y="5172075"/>
            <a:ext cx="1654373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9"/>
          <p:cNvSpPr/>
          <p:nvPr/>
        </p:nvSpPr>
        <p:spPr>
          <a:xfrm>
            <a:off x="2235398" y="5172075"/>
            <a:ext cx="1654373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3889771" y="5172075"/>
            <a:ext cx="7721203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581025" y="5653087"/>
            <a:ext cx="1654373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/>
          <p:nvPr/>
        </p:nvSpPr>
        <p:spPr>
          <a:xfrm>
            <a:off x="2235398" y="5653087"/>
            <a:ext cx="1654373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9"/>
          <p:cNvSpPr/>
          <p:nvPr/>
        </p:nvSpPr>
        <p:spPr>
          <a:xfrm>
            <a:off x="3889771" y="5653087"/>
            <a:ext cx="7721203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9"/>
          <p:cNvSpPr/>
          <p:nvPr/>
        </p:nvSpPr>
        <p:spPr>
          <a:xfrm>
            <a:off x="581025" y="6134100"/>
            <a:ext cx="1654373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9"/>
          <p:cNvSpPr/>
          <p:nvPr/>
        </p:nvSpPr>
        <p:spPr>
          <a:xfrm>
            <a:off x="2235398" y="6134100"/>
            <a:ext cx="1654373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9"/>
          <p:cNvSpPr/>
          <p:nvPr/>
        </p:nvSpPr>
        <p:spPr>
          <a:xfrm>
            <a:off x="3889771" y="6134100"/>
            <a:ext cx="7721203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400800"/>
            <a:ext cx="121920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33700"/>
            <a:ext cx="3492549" cy="248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933700"/>
            <a:ext cx="3492549" cy="248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933700"/>
            <a:ext cx="3492549" cy="248602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0"/>
          <p:cNvSpPr txBox="1"/>
          <p:nvPr/>
        </p:nvSpPr>
        <p:spPr>
          <a:xfrm>
            <a:off x="571500" y="457200"/>
            <a:ext cx="2510313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422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Conclusion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571500" y="6553200"/>
            <a:ext cx="14382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rPr>
              <a:t>Constitution of Pakistan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11229975" y="6553200"/>
            <a:ext cx="3905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rPr>
              <a:t>Page 8</a:t>
            </a:r>
            <a:endParaRPr/>
          </a:p>
        </p:txBody>
      </p:sp>
      <p:sp>
        <p:nvSpPr>
          <p:cNvPr id="229" name="Google Shape;229;p20"/>
          <p:cNvSpPr/>
          <p:nvPr/>
        </p:nvSpPr>
        <p:spPr>
          <a:xfrm>
            <a:off x="571500" y="129540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0"/>
          <p:cNvSpPr txBox="1"/>
          <p:nvPr/>
        </p:nvSpPr>
        <p:spPr>
          <a:xfrm>
            <a:off x="904875" y="3867150"/>
            <a:ext cx="301709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422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Tool for Reform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904875" y="4362450"/>
            <a:ext cx="2873424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Amendment powers are a tool for reform, not destruction.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4683174" y="3867150"/>
            <a:ext cx="301709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422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Broad Consensus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4683174" y="4362450"/>
            <a:ext cx="2873424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The process requires broad political consensus (2/3 majority).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8461474" y="3867150"/>
            <a:ext cx="301709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422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Balanced System</a:t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8461474" y="4362450"/>
            <a:ext cx="2873424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Pakistan's system balances rigidity (hard to change) with flexibility (ability to adapt).</a:t>
            </a:r>
            <a:endParaRPr/>
          </a:p>
        </p:txBody>
      </p:sp>
      <p:pic>
        <p:nvPicPr>
          <p:cNvPr id="236" name="Google Shape;236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4875" y="32575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83174" y="325755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61474" y="3257550"/>
            <a:ext cx="47625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7214" y="-1"/>
            <a:ext cx="12229214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37214" y="-196703"/>
            <a:ext cx="12311764" cy="7124553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1"/>
          <p:cNvSpPr txBox="1"/>
          <p:nvPr/>
        </p:nvSpPr>
        <p:spPr>
          <a:xfrm>
            <a:off x="952500" y="2352675"/>
            <a:ext cx="9311163" cy="1019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Thank You For Your Time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952500" y="3657600"/>
            <a:ext cx="8867775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D4AF37"/>
                </a:solidFill>
                <a:latin typeface="Lato"/>
                <a:ea typeface="Lato"/>
                <a:cs typeface="Lato"/>
                <a:sym typeface="Lato"/>
              </a:rPr>
              <a:t>ANY QUESTIONS?</a:t>
            </a:r>
            <a:endParaRPr/>
          </a:p>
        </p:txBody>
      </p:sp>
      <p:sp>
        <p:nvSpPr>
          <p:cNvPr id="247" name="Google Shape;247;p21"/>
          <p:cNvSpPr/>
          <p:nvPr/>
        </p:nvSpPr>
        <p:spPr>
          <a:xfrm>
            <a:off x="952500" y="4467225"/>
            <a:ext cx="952500" cy="3810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438</Words>
  <Application>Microsoft Office PowerPoint</Application>
  <PresentationFormat>Widescreen</PresentationFormat>
  <Paragraphs>80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Calibri</vt:lpstr>
      <vt:lpstr>Lato</vt:lpstr>
      <vt:lpstr>Arial</vt:lpstr>
      <vt:lpstr>Playfair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Muhammad Sddique Memon</cp:lastModifiedBy>
  <cp:revision>1</cp:revision>
  <dcterms:modified xsi:type="dcterms:W3CDTF">2025-11-20T21:37:39Z</dcterms:modified>
</cp:coreProperties>
</file>